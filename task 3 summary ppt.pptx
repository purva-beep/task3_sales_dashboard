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4"/>
  </p:notesMasterIdLst>
  <p:handoutMasterIdLst>
    <p:handoutMasterId r:id="rId15"/>
  </p:handoutMasterIdLst>
  <p:sldIdLst>
    <p:sldId id="276" r:id="rId5"/>
    <p:sldId id="257" r:id="rId6"/>
    <p:sldId id="256" r:id="rId7"/>
    <p:sldId id="281" r:id="rId8"/>
    <p:sldId id="283" r:id="rId9"/>
    <p:sldId id="293" r:id="rId10"/>
    <p:sldId id="294" r:id="rId11"/>
    <p:sldId id="296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A32DF8-679D-2919-9E67-BAACE693832A}" v="254" dt="2026-06-19T15:21:07.867"/>
  </p1510:revLst>
</p1510:revInfo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6327" autoAdjust="0"/>
  </p:normalViewPr>
  <p:slideViewPr>
    <p:cSldViewPr snapToGrid="0">
      <p:cViewPr varScale="1">
        <p:scale>
          <a:sx n="86" d="100"/>
          <a:sy n="86" d="100"/>
        </p:scale>
        <p:origin x="63" y="963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0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90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72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690542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855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349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8031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364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173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70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134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246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437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77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841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91271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68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6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89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91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49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80706"/>
            <a:ext cx="12192000" cy="38772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988" y="540000"/>
            <a:ext cx="3884962" cy="2011680"/>
          </a:xfrm>
        </p:spPr>
        <p:txBody>
          <a:bodyPr anchor="ctr" anchorCtr="0"/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54584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3552" y="540000"/>
            <a:ext cx="6107460" cy="201168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>
              <a:defRPr sz="1800"/>
            </a:lvl2pPr>
            <a:lvl3pPr marL="720000" indent="0">
              <a:buNone/>
              <a:defRPr sz="1800"/>
            </a:lvl3pPr>
            <a:lvl4pPr>
              <a:defRPr sz="1800"/>
            </a:lvl4pPr>
            <a:lvl5pPr marL="14400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DB4AB8-A251-1D19-89FE-D1E389DC72CE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40988" y="3487738"/>
            <a:ext cx="11110023" cy="2486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74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99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8640"/>
            <a:ext cx="10058400" cy="1097280"/>
          </a:xfr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288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6B5DAE-9335-B3AD-445C-296C2E06A2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2650" y="2441575"/>
            <a:ext cx="10058400" cy="3450265"/>
          </a:xfrm>
        </p:spPr>
        <p:txBody>
          <a:bodyPr/>
          <a:lstStyle>
            <a:lvl1pPr marL="283464" indent="-283464">
              <a:defRPr/>
            </a:lvl1pPr>
            <a:lvl2pPr marL="283464" indent="0">
              <a:defRPr/>
            </a:lvl2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48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2585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2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on</a:t>
            </a:r>
            <a:br>
              <a:rPr lang="en-US" dirty="0"/>
            </a:br>
            <a:r>
              <a:rPr lang="en-US" dirty="0"/>
              <a:t>sales </a:t>
            </a:r>
            <a:r>
              <a:rPr lang="en-US"/>
              <a:t>performance</a:t>
            </a:r>
            <a:r>
              <a:rPr lang="en-US" dirty="0"/>
              <a:t>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2BBD6-2ED5-52C3-90E1-75EFC4EC8807}"/>
              </a:ext>
            </a:extLst>
          </p:cNvPr>
          <p:cNvSpPr txBox="1"/>
          <p:nvPr/>
        </p:nvSpPr>
        <p:spPr>
          <a:xfrm>
            <a:off x="1579217" y="4814956"/>
            <a:ext cx="7586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Presented by :- Purva Ambre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227" y="-447822"/>
            <a:ext cx="5486400" cy="1371600"/>
          </a:xfrm>
        </p:spPr>
        <p:txBody>
          <a:bodyPr/>
          <a:lstStyle/>
          <a:p>
            <a:r>
              <a:rPr lang="en-US" sz="1800" b="1">
                <a:latin typeface="Avenir Next LT Pro Light"/>
              </a:rPr>
              <a:t>Objective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149" y="932230"/>
            <a:ext cx="10820399" cy="3009899"/>
          </a:xfrm>
        </p:spPr>
        <p:txBody>
          <a:bodyPr/>
          <a:lstStyle/>
          <a:p>
            <a:pPr marL="0" indent="0">
              <a:buClr>
                <a:srgbClr val="EF8C6A"/>
              </a:buClr>
              <a:buNone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Clr>
                <a:srgbClr val="EF8C6A"/>
              </a:buClr>
              <a:buNone/>
            </a:pP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To analyze sales performance across different states, categories, customers, and payment modes using </a:t>
            </a:r>
            <a:r>
              <a:rPr lang="en-US" b="1" dirty="0">
                <a:ea typeface="+mn-lt"/>
                <a:cs typeface="+mn-lt"/>
              </a:rPr>
              <a:t>an interactive Power BI dashboard.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b="1">
                <a:ea typeface="+mn-lt"/>
                <a:cs typeface="+mn-lt"/>
              </a:rPr>
              <a:t>Tools Used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Power BI 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Excel/CSV Dataset 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DAX Measures </a:t>
            </a:r>
            <a:endParaRPr lang="en-US"/>
          </a:p>
          <a:p>
            <a:pPr marL="0" indent="0">
              <a:buClr>
                <a:srgbClr val="EF8C6A"/>
              </a:buClr>
              <a:buNone/>
            </a:pPr>
            <a:r>
              <a:rPr lang="en-US" b="1">
                <a:ea typeface="+mn-lt"/>
                <a:cs typeface="+mn-lt"/>
              </a:rPr>
              <a:t>Key Business Questions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Which states generate the highest revenue? 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Which categories contribute most to sales? 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What are the sales trends over time? </a:t>
            </a:r>
            <a:endParaRPr lang="en-US"/>
          </a:p>
          <a:p>
            <a:pPr marL="359410" indent="-3594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Which payment methods are preferred by customers? </a:t>
            </a:r>
            <a:endParaRPr lang="en-US"/>
          </a:p>
          <a:p>
            <a:pPr marL="0" indent="0">
              <a:buClr>
                <a:srgbClr val="EF8C6A"/>
              </a:buClr>
              <a:buNone/>
            </a:pPr>
            <a:r>
              <a:rPr lang="en-US" b="1">
                <a:ea typeface="+mn-lt"/>
                <a:cs typeface="+mn-lt"/>
              </a:rPr>
              <a:t>Visual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Company-style dashboard icon or Power BI logo.</a:t>
            </a:r>
            <a:endParaRPr lang="en-US">
              <a:solidFill>
                <a:srgbClr val="FFFFFF">
                  <a:alpha val="70000"/>
                </a:srgbClr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484" y="-1235255"/>
            <a:ext cx="10239754" cy="2138400"/>
          </a:xfrm>
        </p:spPr>
        <p:txBody>
          <a:bodyPr/>
          <a:lstStyle/>
          <a:p>
            <a:r>
              <a:rPr lang="en-US" sz="2400" b="1" i="1">
                <a:latin typeface="Avenir Next LT Pro Light"/>
              </a:rPr>
              <a:t>Problem Statement</a:t>
            </a:r>
            <a:endParaRPr lang="en-US" b="1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C3F3DE7-4288-44D0-9E2E-8E5B9936A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995" y="1151477"/>
            <a:ext cx="11634357" cy="1655762"/>
          </a:xfrm>
        </p:spPr>
        <p:txBody>
          <a:bodyPr/>
          <a:lstStyle/>
          <a:p>
            <a:pPr algn="l"/>
            <a:r>
              <a:rPr lang="en-US" sz="2000"/>
              <a:t>Problem Statement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Organizations often face challenges in understanding sales performance across different regions, product categories, and customer segments. Without a centralized reporting system, decision-makers struggle to identify growth opportunities and operational inefficiencies.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/>
              <a:t>Objectives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Analyze overall sales performance and profitability.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Identify top-performing states and product categories.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Track sales trends over time.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Evaluate customer payment preferences.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Develop an interactive dashboard for business decision-making.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• Present insights through visual analytics and KPI monitoring.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/>
              <a:t>Expected Outcome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2000" i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A dynamic dashboard capable of providing real-time business insights and supporting strategic planning.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 algn="l"/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>
                <a:latin typeface="Avenir Next LT Pro Light"/>
              </a:rPr>
              <a:t>Dataset Overview</a:t>
            </a:r>
            <a:endParaRPr lang="en-US" sz="2400" b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0782" y="1183512"/>
            <a:ext cx="17571590" cy="3768195"/>
          </a:xfrm>
        </p:spPr>
        <p:txBody>
          <a:bodyPr/>
          <a:lstStyle/>
          <a:p>
            <a:pPr marL="283210" indent="-2832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The dataset contains transactional sales records with the following attributes:</a:t>
            </a:r>
            <a:endParaRPr lang="en-US"/>
          </a:p>
          <a:p>
            <a:pPr marL="283210" indent="-283210">
              <a:buClr>
                <a:srgbClr val="EF8C6A"/>
              </a:buClr>
            </a:pPr>
            <a:r>
              <a:rPr lang="en-US">
                <a:ea typeface="+mn-lt"/>
                <a:cs typeface="+mn-lt"/>
              </a:rPr>
              <a:t>• Order ID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Customer Name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Order Date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Amount (Sales)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Profit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Quantity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Category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Sub-Category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State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• Payment Mode</a:t>
            </a:r>
            <a:endParaRPr lang="en-US"/>
          </a:p>
          <a:p>
            <a:pPr marL="283210" indent="-283210">
              <a:buClr>
                <a:srgbClr val="EF8C6A"/>
              </a:buClr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E88C-4518-8DA5-1DFF-70A655859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-1235808"/>
            <a:ext cx="7797799" cy="2138400"/>
          </a:xfrm>
        </p:spPr>
        <p:txBody>
          <a:bodyPr>
            <a:normAutofit/>
          </a:bodyPr>
          <a:lstStyle/>
          <a:p>
            <a:r>
              <a:rPr lang="en-US" sz="2400" b="1" i="1">
                <a:latin typeface="Avenir Next LT Pro Light"/>
              </a:rPr>
              <a:t>Data Preparation Process</a:t>
            </a:r>
            <a:endParaRPr 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95DF9-4327-92A6-EB3F-1320895ED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50" y="820982"/>
            <a:ext cx="11427068" cy="1782762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l"/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i="0">
                <a:ea typeface="+mn-lt"/>
                <a:cs typeface="+mn-lt"/>
              </a:rPr>
              <a:t>Imported dataset into Power BI.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i="0">
                <a:ea typeface="+mn-lt"/>
                <a:cs typeface="+mn-lt"/>
              </a:rPr>
              <a:t>Verified data types and formats.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i="0">
                <a:ea typeface="+mn-lt"/>
                <a:cs typeface="+mn-lt"/>
              </a:rPr>
              <a:t>Checked for missing and duplicate values.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i="0">
                <a:ea typeface="+mn-lt"/>
                <a:cs typeface="+mn-lt"/>
              </a:rPr>
              <a:t>Standardized column names.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i="0">
                <a:ea typeface="+mn-lt"/>
                <a:cs typeface="+mn-lt"/>
              </a:rPr>
              <a:t>Created calculated measures using DAX.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/>
              <a:t>Key Measures Developed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Total Sales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Total Profit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Total Orders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Total Quantity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Profit Margin (%)</a:t>
            </a:r>
            <a:endParaRPr lang="en-US" sz="1800" dirty="0">
              <a:solidFill>
                <a:srgbClr val="FFFFFF">
                  <a:alpha val="70000"/>
                </a:srgbClr>
              </a:solidFill>
            </a:endParaRPr>
          </a:p>
          <a:p>
            <a:pPr algn="l"/>
            <a:r>
              <a:rPr lang="en-US" sz="1800" i="0">
                <a:ea typeface="+mn-lt"/>
                <a:cs typeface="+mn-lt"/>
              </a:rPr>
              <a:t>These measures form the foundation of dashboard analytics.</a:t>
            </a:r>
            <a:endParaRPr lang="en-US" sz="1800">
              <a:solidFill>
                <a:srgbClr val="FFFFFF">
                  <a:alpha val="70000"/>
                </a:srgbClr>
              </a:solidFill>
            </a:endParaRPr>
          </a:p>
          <a:p>
            <a:pPr algn="l"/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72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074629B-89A5-43B3-1FE3-67205F9DA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0936"/>
            <a:ext cx="10058400" cy="1097280"/>
          </a:xfrm>
        </p:spPr>
        <p:txBody>
          <a:bodyPr>
            <a:normAutofit/>
          </a:bodyPr>
          <a:lstStyle/>
          <a:p>
            <a:r>
              <a:rPr lang="en-US" sz="2400" b="1">
                <a:latin typeface="Avenir Next LT Pro Light"/>
              </a:rPr>
              <a:t>Key Insights &amp; Business Findings</a:t>
            </a:r>
            <a:endParaRPr lang="en-US" sz="24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1F0CB-E7AC-B72E-14A0-A138108E14B0}"/>
              </a:ext>
            </a:extLst>
          </p:cNvPr>
          <p:cNvSpPr txBox="1"/>
          <p:nvPr/>
        </p:nvSpPr>
        <p:spPr>
          <a:xfrm>
            <a:off x="1067427" y="1595333"/>
            <a:ext cx="1276230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/>
              <a:t>     Business Insights</a:t>
            </a:r>
          </a:p>
          <a:p>
            <a:r>
              <a:rPr lang="en-US">
                <a:ea typeface="+mn-lt"/>
                <a:cs typeface="+mn-lt"/>
              </a:rPr>
              <a:t>After analyzing the dashboard, several important observations were identified: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Certain states contribute a significantly larger share of overall revenue.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• A small number of product categories generate the majority of sales.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• Customer payment behavior indicates a preference for digital payment methods.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Monthly trend analysis reveals seasonal fluctuations in sales performance.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High sales volume does not always correspond to high profitability, highlighting the importance of </a:t>
            </a:r>
          </a:p>
          <a:p>
            <a:r>
              <a:rPr lang="en-US">
                <a:ea typeface="+mn-lt"/>
                <a:cs typeface="+mn-lt"/>
              </a:rPr>
              <a:t>    profit analysis alongside revenue analysis.</a:t>
            </a:r>
            <a:endParaRPr lang="en-US"/>
          </a:p>
          <a:p>
            <a:endParaRPr lang="en-US" dirty="0"/>
          </a:p>
          <a:p>
            <a:r>
              <a:rPr lang="en-US"/>
              <a:t>   Business Value</a:t>
            </a:r>
          </a:p>
          <a:p>
            <a:r>
              <a:rPr lang="en-US">
                <a:ea typeface="+mn-lt"/>
                <a:cs typeface="+mn-lt"/>
              </a:rPr>
              <a:t>These insights help management: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Improve resource allocation.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Optimize product strategies.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Enhance marketing campaigns.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Increase profitability through informed decisions.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6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A76F-D376-79BA-AC5E-A2735E78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332" y="-369668"/>
            <a:ext cx="9005276" cy="2304288"/>
          </a:xfrm>
        </p:spPr>
        <p:txBody>
          <a:bodyPr/>
          <a:lstStyle/>
          <a:p>
            <a:r>
              <a:rPr lang="en-US" b="1" dirty="0"/>
              <a:t>Conclusion </a:t>
            </a:r>
            <a:r>
              <a:rPr lang="en-US" b="1"/>
              <a:t>and future scope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36F5E-3803-4149-AA66-FD25B8E82CF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07002" y="1214776"/>
            <a:ext cx="9149317" cy="2574120"/>
          </a:xfrm>
        </p:spPr>
        <p:txBody>
          <a:bodyPr/>
          <a:lstStyle/>
          <a:p>
            <a:r>
              <a:rPr lang="en-US"/>
              <a:t>Conclusion</a:t>
            </a:r>
          </a:p>
          <a:p>
            <a:r>
              <a:rPr lang="en-US">
                <a:ea typeface="+mn-lt"/>
                <a:cs typeface="+mn-lt"/>
              </a:rPr>
              <a:t>The Sales Performance Dashboard successfully transforms raw sales data into meaningful visual insights. By integrating KPIs, trend analysis, category performance, and regional sales evaluation, the dashboard provides a comprehensive view of business operations.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project demonstrates how Power BI can be leveraged to support business intelligence and strategic decision-making.</a:t>
            </a:r>
            <a:endParaRPr lang="en-US"/>
          </a:p>
          <a:p>
            <a:endParaRPr lang="en-US" dirty="0"/>
          </a:p>
          <a:p>
            <a:r>
              <a:rPr lang="en-US"/>
              <a:t>Future Scope</a:t>
            </a:r>
          </a:p>
          <a:p>
            <a:r>
              <a:rPr lang="en-US">
                <a:ea typeface="+mn-lt"/>
                <a:cs typeface="+mn-lt"/>
              </a:rPr>
              <a:t>• Sales Forecasting using Machine Learning.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Customer Segmentation Analysis.</a:t>
            </a:r>
          </a:p>
          <a:p>
            <a:r>
              <a:rPr lang="en-US">
                <a:ea typeface="+mn-lt"/>
                <a:cs typeface="+mn-lt"/>
              </a:rPr>
              <a:t>• Product Recommendation Systems.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Real-Time Data Integration.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• Advanced Predictive Analytics.</a:t>
            </a:r>
            <a:endParaRPr lang="en-US"/>
          </a:p>
          <a:p>
            <a:endParaRPr lang="en-US" dirty="0">
              <a:solidFill>
                <a:srgbClr val="FFFFFF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843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5714-4BE0-EC6B-90B7-F8A86023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BDC7-4E05-2A5B-EC80-62CCB3664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87D6886D-B5A1-1F5D-F70E-3462D3F53FF1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96381568"/>
              </p:ext>
            </p:extLst>
          </p:nvPr>
        </p:nvGraphicFramePr>
        <p:xfrm>
          <a:off x="541338" y="3487738"/>
          <a:ext cx="11109325" cy="248602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757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1119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42880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19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A5F18C-93E4-4C3A-A312-44EF0CB57A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33059B-AF8D-467E-BDB3-CD063FDD20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7FEE6A-70C7-4994-95E7-698D6AC488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LeafVTI</Template>
  <TotalTime>0</TotalTime>
  <Words>428</Words>
  <Application>Microsoft Office PowerPoint</Application>
  <PresentationFormat>Widescreen</PresentationFormat>
  <Paragraphs>122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LeafVTI</vt:lpstr>
      <vt:lpstr>Presentation on sales performance dashboard</vt:lpstr>
      <vt:lpstr>Objective</vt:lpstr>
      <vt:lpstr>Problem Statement</vt:lpstr>
      <vt:lpstr>Dataset Overview</vt:lpstr>
      <vt:lpstr>Data Preparation Process</vt:lpstr>
      <vt:lpstr>Key Insights &amp; Business Findings</vt:lpstr>
      <vt:lpstr>Conclusion and future scope</vt:lpstr>
      <vt:lpstr>Dynamic delivery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</cp:revision>
  <dcterms:created xsi:type="dcterms:W3CDTF">2026-06-19T14:56:57Z</dcterms:created>
  <dcterms:modified xsi:type="dcterms:W3CDTF">2026-06-19T15:21:38Z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